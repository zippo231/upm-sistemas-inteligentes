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7" r:id="rId5"/>
    <p:sldId id="268" r:id="rId6"/>
    <p:sldId id="261" r:id="rId7"/>
    <p:sldId id="272" r:id="rId8"/>
    <p:sldId id="273" r:id="rId9"/>
    <p:sldId id="278" r:id="rId10"/>
    <p:sldId id="275" r:id="rId11"/>
    <p:sldId id="276" r:id="rId12"/>
    <p:sldId id="279" r:id="rId13"/>
    <p:sldId id="277" r:id="rId14"/>
  </p:sldIdLst>
  <p:sldSz cx="12188825" cy="6858000"/>
  <p:notesSz cx="6858000" cy="9144000"/>
  <p:defaultTextStyle>
    <a:defPPr rtl="0">
      <a:defRPr lang="es-e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95" autoAdjust="0"/>
  </p:normalViewPr>
  <p:slideViewPr>
    <p:cSldViewPr>
      <p:cViewPr varScale="1">
        <p:scale>
          <a:sx n="111" d="100"/>
          <a:sy n="111" d="100"/>
        </p:scale>
        <p:origin x="594" y="9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8" d="100"/>
          <a:sy n="88" d="100"/>
        </p:scale>
        <p:origin x="2478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C8F1D84B-F747-4821-8617-FBD61E8F4308}" type="datetime1">
              <a:rPr lang="es-ES" smtClean="0"/>
              <a:t>23/05/2026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79429053-DC2A-4342-ADD4-2FD729D91E2C}" type="slidenum">
              <a:rPr lang="es-ES" smtClean="0"/>
              <a:pPr algn="r"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DA87C823-BB9F-45DA-99AB-416A32E1B948}" type="datetime1">
              <a:rPr lang="es-ES" noProof="0" smtClean="0"/>
              <a:pPr/>
              <a:t>23/05/2026</a:t>
            </a:fld>
            <a:endParaRPr lang="es-ES" noProof="0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3EBA5BD7-F043-4D1B-AA17-CD412FC534DE}" type="slidenum">
              <a:rPr lang="es-ES" noProof="0" smtClean="0"/>
              <a:pPr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88672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7451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noProof="0" smtClean="0"/>
              <a:pPr/>
              <a:t>3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3358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1874B-2630-5C45-59A7-EAF3810AD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047693C-7FCB-13A2-85FB-A7FDF2A4A3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8329744-632A-C9BF-A2BF-69928687C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E10A219-95A3-4E85-C996-BF64FA8BDD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noProof="0" smtClean="0"/>
              <a:pPr/>
              <a:t>4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816116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29CF1-DE82-3AA7-CE06-70A810E3A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A5729E5-B1C9-8133-BAAC-6F2EFCD5B5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AF68516-13E1-CC30-8DDF-D09DF22FFD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1C8EDD-1232-71FC-A4DF-19F2A975ED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noProof="0" smtClean="0"/>
              <a:pPr/>
              <a:t>6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171410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Conector recto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ector recto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líneas inferior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orma libre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ES" noProof="0" dirty="0"/>
            </a:p>
          </p:txBody>
        </p:sp>
        <p:sp>
          <p:nvSpPr>
            <p:cNvPr id="10" name="Forma libre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ES" noProof="0" dirty="0"/>
            </a:p>
          </p:txBody>
        </p:sp>
        <p:sp>
          <p:nvSpPr>
            <p:cNvPr id="11" name="Forma libre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ES" noProof="0" dirty="0"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22" name="Marcador de posición de fecha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042E67D-14C0-4ED9-A218-9C14494A6A84}" type="datetime1">
              <a:rPr lang="es-ES" noProof="0" smtClean="0"/>
              <a:pPr/>
              <a:t>23/05/2026</a:t>
            </a:fld>
            <a:endParaRPr lang="es-ES" noProof="0" dirty="0"/>
          </a:p>
        </p:txBody>
      </p:sp>
      <p:sp>
        <p:nvSpPr>
          <p:cNvPr id="23" name="Marcador de posición de pie de página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24" name="Marcador de posición de número de diapositiva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2E48AAE-5AE8-418A-A225-B506C222F2F9}" type="datetime1">
              <a:rPr lang="es-ES" noProof="0" smtClean="0"/>
              <a:pPr/>
              <a:t>23/05/2026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Conector recto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ector recto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ector recto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A1D35CA-82F5-4AD4-B9EC-66E805B73542}" type="datetime1">
              <a:rPr lang="es-ES" noProof="0" smtClean="0"/>
              <a:pPr/>
              <a:t>23/05/2026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34CCE92-710B-4678-B1B1-EFCAA5CDF075}" type="datetime1">
              <a:rPr lang="es-ES" noProof="0" smtClean="0"/>
              <a:pPr/>
              <a:t>23/05/2026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3FB0F2C-25D9-4D7E-B43A-29A2E16C960D}" type="datetime1">
              <a:rPr lang="es-ES" noProof="0" smtClean="0"/>
              <a:pPr/>
              <a:t>23/05/2026</a:t>
            </a:fld>
            <a:endParaRPr lang="es-ES" noProof="0" dirty="0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D34687D-B11B-47A5-95F6-B79DA932A6DF}" type="datetime1">
              <a:rPr lang="es-ES" noProof="0" smtClean="0"/>
              <a:pPr/>
              <a:t>23/05/2026</a:t>
            </a:fld>
            <a:endParaRPr lang="es-ES" noProof="0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3C656DE-1E46-4450-9484-A739B4FADFBC}" type="datetime1">
              <a:rPr lang="es-ES" noProof="0" smtClean="0"/>
              <a:pPr/>
              <a:t>23/05/2026</a:t>
            </a:fld>
            <a:endParaRPr lang="es-ES" noProof="0" dirty="0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EA77F8B-D469-4ECD-B91E-3B01AD692331}" type="datetime1">
              <a:rPr lang="es-ES" noProof="0" smtClean="0"/>
              <a:pPr/>
              <a:t>23/05/2026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posición de imagen 2" descr="Marcador de posición vacío para agregar una imagen. Haga clic en el marcador de posición y seleccione la imagen que desee agregar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9BA7B1C-709E-4257-93A5-EC2F0807D42F}" type="datetime1">
              <a:rPr lang="es-ES" noProof="0" smtClean="0"/>
              <a:pPr/>
              <a:t>23/05/2026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0A1DB83-C382-4684-8887-65A03EA4FFF0}" type="datetime1">
              <a:rPr lang="es-ES" noProof="0" smtClean="0"/>
              <a:pPr/>
              <a:t>23/05/2026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60E81D3-9B82-44CA-B1F9-FCEFDC87935B}" type="datetime1">
              <a:rPr lang="es-ES" noProof="0" smtClean="0"/>
              <a:pPr/>
              <a:t>23/05/2026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íneas a la izquierda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orma libre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11" name="Forma libre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14" name="Forma libre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es-ES" noProof="0" dirty="0"/>
              <a:t>Editar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83AD5-F5AF-4BDC-901E-85A05CCFFAAA}" type="datetime1">
              <a:rPr lang="es-ES" noProof="0" smtClean="0"/>
              <a:pPr/>
              <a:t>23/05/2026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s-ES" dirty="0" err="1"/>
              <a:t>CineAgent</a:t>
            </a:r>
            <a:endParaRPr lang="es-ES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380752"/>
          </a:xfrm>
        </p:spPr>
        <p:txBody>
          <a:bodyPr rtlCol="0">
            <a:normAutofit/>
          </a:bodyPr>
          <a:lstStyle/>
          <a:p>
            <a:pPr rtl="0"/>
            <a:r>
              <a:rPr lang="es-ES" sz="1400" dirty="0"/>
              <a:t>Sistema </a:t>
            </a:r>
            <a:r>
              <a:rPr lang="es-ES" sz="1400" dirty="0" err="1"/>
              <a:t>multiagente</a:t>
            </a:r>
            <a:r>
              <a:rPr lang="es-ES" sz="1400" dirty="0"/>
              <a:t> para recomendación de películas</a:t>
            </a:r>
          </a:p>
        </p:txBody>
      </p:sp>
      <p:sp>
        <p:nvSpPr>
          <p:cNvPr id="3" name="Subtítulo 4">
            <a:extLst>
              <a:ext uri="{FF2B5EF4-FFF2-40B4-BE49-F238E27FC236}">
                <a16:creationId xmlns:a16="http://schemas.microsoft.com/office/drawing/2014/main" id="{1F311007-E025-E9F6-FE82-7A86C31BAB46}"/>
              </a:ext>
            </a:extLst>
          </p:cNvPr>
          <p:cNvSpPr txBox="1">
            <a:spLocks/>
          </p:cNvSpPr>
          <p:nvPr/>
        </p:nvSpPr>
        <p:spPr>
          <a:xfrm>
            <a:off x="1625176" y="4509120"/>
            <a:ext cx="4037189" cy="1171674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80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0949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898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48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797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46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96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45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94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Guillermo De la Piñera Guerrero </a:t>
            </a:r>
          </a:p>
          <a:p>
            <a:r>
              <a:rPr lang="es-ES" sz="1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Javier Fernández-pello san román</a:t>
            </a:r>
          </a:p>
          <a:p>
            <a:r>
              <a:rPr lang="es-ES" sz="1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Sergio Hernández rodríguez</a:t>
            </a:r>
          </a:p>
          <a:p>
            <a:r>
              <a:rPr lang="es-ES" sz="1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Rocío Márquez correa</a:t>
            </a:r>
          </a:p>
          <a:p>
            <a:r>
              <a:rPr lang="es-ES" sz="1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Federico </a:t>
            </a:r>
            <a:r>
              <a:rPr lang="es-ES" sz="12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pizzi</a:t>
            </a:r>
            <a:endParaRPr lang="es-ES" sz="12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706FD93-5970-D941-011A-9583BB0005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4612" y="3820376"/>
            <a:ext cx="2160239" cy="216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Índice</a:t>
            </a:r>
          </a:p>
        </p:txBody>
      </p:sp>
      <p:sp>
        <p:nvSpPr>
          <p:cNvPr id="14" name="Marcador de posición de contenido 13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s-ES" dirty="0"/>
              <a:t>Problema</a:t>
            </a:r>
          </a:p>
          <a:p>
            <a:pPr rtl="0"/>
            <a:r>
              <a:rPr lang="es-ES" dirty="0"/>
              <a:t>Solución </a:t>
            </a:r>
            <a:r>
              <a:rPr lang="es-ES" dirty="0" err="1"/>
              <a:t>CineAgent</a:t>
            </a:r>
            <a:endParaRPr lang="es-ES" dirty="0"/>
          </a:p>
          <a:p>
            <a:pPr rtl="0"/>
            <a:r>
              <a:rPr lang="es-ES" dirty="0"/>
              <a:t>Arquitectura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BA27C7A-A32D-453F-B375-439111EF98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2523" y="5687208"/>
            <a:ext cx="953721" cy="95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Problema</a:t>
            </a:r>
          </a:p>
        </p:txBody>
      </p:sp>
      <p:sp>
        <p:nvSpPr>
          <p:cNvPr id="8" name="Marcador de posición de texto 7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s-ES" dirty="0"/>
              <a:t>oferta películas</a:t>
            </a:r>
          </a:p>
        </p:txBody>
      </p:sp>
      <p:sp>
        <p:nvSpPr>
          <p:cNvPr id="10" name="Marcador de posición de contenido 9"/>
          <p:cNvSpPr>
            <a:spLocks noGrp="1"/>
          </p:cNvSpPr>
          <p:nvPr>
            <p:ph sz="half" idx="2"/>
          </p:nvPr>
        </p:nvSpPr>
        <p:spPr/>
        <p:txBody>
          <a:bodyPr rtlCol="0"/>
          <a:lstStyle/>
          <a:p>
            <a:pPr rtl="0"/>
            <a:r>
              <a:rPr lang="es-ES" dirty="0"/>
              <a:t>Gran cantidad de películas</a:t>
            </a:r>
          </a:p>
          <a:p>
            <a:pPr rtl="0"/>
            <a:r>
              <a:rPr lang="es-ES" dirty="0"/>
              <a:t>Poca información sobre ellas</a:t>
            </a:r>
          </a:p>
        </p:txBody>
      </p:sp>
      <p:sp>
        <p:nvSpPr>
          <p:cNvPr id="9" name="Marcador de posición de texto 8"/>
          <p:cNvSpPr>
            <a:spLocks noGrp="1"/>
          </p:cNvSpPr>
          <p:nvPr>
            <p:ph type="body" sz="quarter" idx="3"/>
          </p:nvPr>
        </p:nvSpPr>
        <p:spPr/>
        <p:txBody>
          <a:bodyPr rtlCol="0"/>
          <a:lstStyle/>
          <a:p>
            <a:r>
              <a:rPr lang="es-ES" dirty="0"/>
              <a:t>Preferencias cliente</a:t>
            </a:r>
          </a:p>
        </p:txBody>
      </p:sp>
      <p:sp>
        <p:nvSpPr>
          <p:cNvPr id="11" name="Marcador de posición de contenido 10"/>
          <p:cNvSpPr>
            <a:spLocks noGrp="1"/>
          </p:cNvSpPr>
          <p:nvPr>
            <p:ph sz="quarter" idx="4"/>
          </p:nvPr>
        </p:nvSpPr>
        <p:spPr/>
        <p:txBody>
          <a:bodyPr rtlCol="0"/>
          <a:lstStyle/>
          <a:p>
            <a:r>
              <a:rPr lang="es-ES" dirty="0"/>
              <a:t>Género</a:t>
            </a:r>
          </a:p>
          <a:p>
            <a:r>
              <a:rPr lang="es-ES" dirty="0"/>
              <a:t>Valoración</a:t>
            </a:r>
          </a:p>
          <a:p>
            <a:r>
              <a:rPr lang="es-ES" dirty="0"/>
              <a:t>Época</a:t>
            </a:r>
          </a:p>
          <a:p>
            <a:r>
              <a:rPr lang="es-ES" dirty="0"/>
              <a:t>Idioma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82645C1-1211-B230-69FA-2E414B90DB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2523" y="5687208"/>
            <a:ext cx="953721" cy="95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03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5107F-5638-F9E8-91FC-EFF816F4A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585148B-4F7F-E6F2-6C33-AC43F3862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Solución </a:t>
            </a:r>
            <a:r>
              <a:rPr lang="es-ES" dirty="0" err="1"/>
              <a:t>CineAgent</a:t>
            </a:r>
            <a:endParaRPr lang="es-E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E521CF9-6255-AD35-7C77-D57B6C7216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2523" y="5687208"/>
            <a:ext cx="953721" cy="953721"/>
          </a:xfrm>
          <a:prstGeom prst="rect">
            <a:avLst/>
          </a:prstGeom>
        </p:spPr>
      </p:pic>
      <p:sp>
        <p:nvSpPr>
          <p:cNvPr id="9" name="Subtítulo 4">
            <a:extLst>
              <a:ext uri="{FF2B5EF4-FFF2-40B4-BE49-F238E27FC236}">
                <a16:creationId xmlns:a16="http://schemas.microsoft.com/office/drawing/2014/main" id="{7FBDEA3F-4517-3873-BA64-2960E33A4516}"/>
              </a:ext>
            </a:extLst>
          </p:cNvPr>
          <p:cNvSpPr txBox="1">
            <a:spLocks/>
          </p:cNvSpPr>
          <p:nvPr/>
        </p:nvSpPr>
        <p:spPr>
          <a:xfrm>
            <a:off x="2844058" y="6278027"/>
            <a:ext cx="8735325" cy="380752"/>
          </a:xfrm>
          <a:prstGeom prst="rect">
            <a:avLst/>
          </a:prstGeom>
        </p:spPr>
        <p:txBody>
          <a:bodyPr rtlCol="0">
            <a:norm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400" cap="all" spc="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No es un buscador, es un sistema de recomendaciones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BDE8BDC-FD09-3A28-B553-F93A13EE1B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09"/>
          <a:stretch>
            <a:fillRect/>
          </a:stretch>
        </p:blipFill>
        <p:spPr>
          <a:xfrm>
            <a:off x="6454452" y="1650016"/>
            <a:ext cx="3841667" cy="429309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1AA7F0B-AF56-D8E8-F2AD-BC76B68D38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7908" y="1650016"/>
            <a:ext cx="3384376" cy="42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896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15E450-4ED0-8493-32D1-18B4B8CEF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Arquitectura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95BCF68-73EE-A64B-E5F2-10569ABF5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2523" y="5687208"/>
            <a:ext cx="953721" cy="953721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440DFABF-FD25-94EA-81E1-FC215896981D}"/>
              </a:ext>
            </a:extLst>
          </p:cNvPr>
          <p:cNvSpPr/>
          <p:nvPr/>
        </p:nvSpPr>
        <p:spPr>
          <a:xfrm>
            <a:off x="765820" y="3429000"/>
            <a:ext cx="1944216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/>
              <a:t>UserAgent</a:t>
            </a:r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45B1430-E26F-D658-F554-2CB419A33122}"/>
              </a:ext>
            </a:extLst>
          </p:cNvPr>
          <p:cNvSpPr/>
          <p:nvPr/>
        </p:nvSpPr>
        <p:spPr>
          <a:xfrm>
            <a:off x="3142084" y="3429000"/>
            <a:ext cx="1944216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 err="1"/>
              <a:t>SearchAgent</a:t>
            </a:r>
            <a:endParaRPr lang="es-ES" sz="20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9895189-2E67-F5AD-DFCE-168F1DFA9E2A}"/>
              </a:ext>
            </a:extLst>
          </p:cNvPr>
          <p:cNvSpPr/>
          <p:nvPr/>
        </p:nvSpPr>
        <p:spPr>
          <a:xfrm>
            <a:off x="5471695" y="3429000"/>
            <a:ext cx="1944216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 err="1"/>
              <a:t>CriticPopularity</a:t>
            </a:r>
            <a:endParaRPr lang="es-ES" sz="20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E2864FE-4158-E814-89DA-5E7F31AADF6E}"/>
              </a:ext>
            </a:extLst>
          </p:cNvPr>
          <p:cNvSpPr/>
          <p:nvPr/>
        </p:nvSpPr>
        <p:spPr>
          <a:xfrm>
            <a:off x="5471695" y="4797152"/>
            <a:ext cx="1944216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 err="1"/>
              <a:t>CriticGenre</a:t>
            </a:r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86D8AAD-4B98-802A-7C60-BEAD322FE24A}"/>
              </a:ext>
            </a:extLst>
          </p:cNvPr>
          <p:cNvSpPr/>
          <p:nvPr/>
        </p:nvSpPr>
        <p:spPr>
          <a:xfrm>
            <a:off x="5471695" y="2060848"/>
            <a:ext cx="1944216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 err="1"/>
              <a:t>CriticRating</a:t>
            </a:r>
            <a:endParaRPr lang="es-E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5805487-9A0F-52E4-2081-C58FCBB110D7}"/>
              </a:ext>
            </a:extLst>
          </p:cNvPr>
          <p:cNvSpPr/>
          <p:nvPr/>
        </p:nvSpPr>
        <p:spPr>
          <a:xfrm>
            <a:off x="7801306" y="3429000"/>
            <a:ext cx="1944216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 err="1"/>
              <a:t>JuryAgent</a:t>
            </a:r>
            <a:r>
              <a:rPr lang="es-ES" sz="2000" dirty="0"/>
              <a:t> 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880C4E9-2E30-1599-C439-DF2A1C9A9F0A}"/>
              </a:ext>
            </a:extLst>
          </p:cNvPr>
          <p:cNvSpPr/>
          <p:nvPr/>
        </p:nvSpPr>
        <p:spPr>
          <a:xfrm>
            <a:off x="10130917" y="3429000"/>
            <a:ext cx="1944216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 err="1"/>
              <a:t>DisplayAgent</a:t>
            </a:r>
            <a:endParaRPr lang="es-ES" sz="2000" dirty="0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A3A2ACC1-0B19-9F6D-31DB-56141B1025E2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710036" y="3933056"/>
            <a:ext cx="43204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9C9D29F3-74A6-3019-40A2-7E865BA0C6D3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086300" y="3933056"/>
            <a:ext cx="385395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: angular 17">
            <a:extLst>
              <a:ext uri="{FF2B5EF4-FFF2-40B4-BE49-F238E27FC236}">
                <a16:creationId xmlns:a16="http://schemas.microsoft.com/office/drawing/2014/main" id="{42B4DBA9-5D03-9B28-5F61-CEE17AC8F485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5086300" y="3933056"/>
            <a:ext cx="385395" cy="1368152"/>
          </a:xfrm>
          <a:prstGeom prst="bentConnector3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: angular 19">
            <a:extLst>
              <a:ext uri="{FF2B5EF4-FFF2-40B4-BE49-F238E27FC236}">
                <a16:creationId xmlns:a16="http://schemas.microsoft.com/office/drawing/2014/main" id="{5E91E58A-3E14-14AA-B6CD-01F96B509FEB}"/>
              </a:ext>
            </a:extLst>
          </p:cNvPr>
          <p:cNvCxnSpPr>
            <a:stCxn id="5" idx="3"/>
            <a:endCxn id="8" idx="1"/>
          </p:cNvCxnSpPr>
          <p:nvPr/>
        </p:nvCxnSpPr>
        <p:spPr>
          <a:xfrm flipV="1">
            <a:off x="5086300" y="2564904"/>
            <a:ext cx="385395" cy="1368152"/>
          </a:xfrm>
          <a:prstGeom prst="bentConnector3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DCD8297A-0EE3-C7B1-6AED-BD1FA3088B7C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7415911" y="3933056"/>
            <a:ext cx="385395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22A46075-77E8-DE67-DEE5-BE55196D539D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9745522" y="3933056"/>
            <a:ext cx="385395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: angular 25">
            <a:extLst>
              <a:ext uri="{FF2B5EF4-FFF2-40B4-BE49-F238E27FC236}">
                <a16:creationId xmlns:a16="http://schemas.microsoft.com/office/drawing/2014/main" id="{B30BBC16-5D7C-271D-AD3F-0FC84C84CE32}"/>
              </a:ext>
            </a:extLst>
          </p:cNvPr>
          <p:cNvCxnSpPr>
            <a:stCxn id="10" idx="2"/>
            <a:endCxn id="4" idx="2"/>
          </p:cNvCxnSpPr>
          <p:nvPr/>
        </p:nvCxnSpPr>
        <p:spPr>
          <a:xfrm rot="5400000">
            <a:off x="6420477" y="-245436"/>
            <a:ext cx="12700" cy="9365097"/>
          </a:xfrm>
          <a:prstGeom prst="bentConnector3">
            <a:avLst>
              <a:gd name="adj1" fmla="val 13775504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: angular 28">
            <a:extLst>
              <a:ext uri="{FF2B5EF4-FFF2-40B4-BE49-F238E27FC236}">
                <a16:creationId xmlns:a16="http://schemas.microsoft.com/office/drawing/2014/main" id="{5F383AE7-E09A-0839-CDFB-12B82C08CC31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7415911" y="2564904"/>
            <a:ext cx="385395" cy="1368152"/>
          </a:xfrm>
          <a:prstGeom prst="bentConnector3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: angular 30">
            <a:extLst>
              <a:ext uri="{FF2B5EF4-FFF2-40B4-BE49-F238E27FC236}">
                <a16:creationId xmlns:a16="http://schemas.microsoft.com/office/drawing/2014/main" id="{D7F09A0E-1C95-39C9-50C9-83EB9FB38BBD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7415911" y="3933056"/>
            <a:ext cx="385395" cy="1368152"/>
          </a:xfrm>
          <a:prstGeom prst="bentConnector3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2103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B1272-CDC3-5AC4-BA66-904DF79C2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767676B2-F3F1-97F6-6487-4B40512DB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Entrada de datos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E84E297-9FD8-9964-0352-75E35F2CB0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2523" y="5687208"/>
            <a:ext cx="953721" cy="953721"/>
          </a:xfrm>
          <a:prstGeom prst="rect">
            <a:avLst/>
          </a:prstGeom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1B24F2E1-FD4B-B08F-7CB5-D25262A20FB8}"/>
              </a:ext>
            </a:extLst>
          </p:cNvPr>
          <p:cNvSpPr/>
          <p:nvPr/>
        </p:nvSpPr>
        <p:spPr>
          <a:xfrm>
            <a:off x="1644218" y="2492896"/>
            <a:ext cx="3672408" cy="2520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sz="1800" dirty="0"/>
              <a:t>UserAgent</a:t>
            </a:r>
          </a:p>
          <a:p>
            <a:pPr algn="ctr"/>
            <a:endParaRPr lang="es-ES" sz="1400" dirty="0"/>
          </a:p>
          <a:p>
            <a:pPr algn="ctr"/>
            <a:endParaRPr lang="es-ES" sz="1400" dirty="0"/>
          </a:p>
          <a:p>
            <a:pPr algn="ctr"/>
            <a:r>
              <a:rPr lang="es-ES" sz="1400" dirty="0"/>
              <a:t>Recoge preferencias del usuario</a:t>
            </a:r>
          </a:p>
          <a:p>
            <a:pPr algn="ctr"/>
            <a:r>
              <a:rPr lang="es-ES" sz="1400" dirty="0"/>
              <a:t>Envía petición</a:t>
            </a:r>
          </a:p>
          <a:p>
            <a:pPr algn="ctr"/>
            <a:r>
              <a:rPr lang="es-ES" sz="1400" dirty="0"/>
              <a:t>Espera confirmación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5D5A33AF-25FC-85D8-7360-46BCE48A134A}"/>
              </a:ext>
            </a:extLst>
          </p:cNvPr>
          <p:cNvSpPr/>
          <p:nvPr/>
        </p:nvSpPr>
        <p:spPr>
          <a:xfrm>
            <a:off x="6872199" y="2492896"/>
            <a:ext cx="3672408" cy="2520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sz="1800" dirty="0" err="1"/>
              <a:t>SearchAgent</a:t>
            </a:r>
            <a:endParaRPr lang="es-ES" sz="1800" dirty="0"/>
          </a:p>
          <a:p>
            <a:pPr algn="ctr"/>
            <a:endParaRPr lang="es-ES" sz="1400" dirty="0"/>
          </a:p>
          <a:p>
            <a:pPr algn="ctr"/>
            <a:endParaRPr lang="es-ES" sz="1400" dirty="0"/>
          </a:p>
          <a:p>
            <a:pPr algn="ctr"/>
            <a:r>
              <a:rPr lang="es-ES" sz="1400" dirty="0"/>
              <a:t>Transforma preferencias a parámetros HTTP</a:t>
            </a:r>
          </a:p>
          <a:p>
            <a:pPr algn="ctr"/>
            <a:r>
              <a:rPr lang="es-ES" sz="1400" dirty="0"/>
              <a:t>Consulta TMDB</a:t>
            </a:r>
          </a:p>
          <a:p>
            <a:pPr algn="ctr"/>
            <a:r>
              <a:rPr lang="es-ES" sz="1400" dirty="0"/>
              <a:t>Reenvía películas a críticos</a:t>
            </a:r>
          </a:p>
        </p:txBody>
      </p:sp>
    </p:spTree>
    <p:extLst>
      <p:ext uri="{BB962C8B-B14F-4D97-AF65-F5344CB8AC3E}">
        <p14:creationId xmlns:p14="http://schemas.microsoft.com/office/powerpoint/2010/main" val="1044946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EA77A0-938F-155E-DB94-D2343D3E4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Críticos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99C5DB5A-1970-DEB4-0107-941C25D042A1}"/>
              </a:ext>
            </a:extLst>
          </p:cNvPr>
          <p:cNvSpPr/>
          <p:nvPr/>
        </p:nvSpPr>
        <p:spPr>
          <a:xfrm>
            <a:off x="1429411" y="2852936"/>
            <a:ext cx="2698634" cy="20162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sz="1800" dirty="0" err="1"/>
              <a:t>CriticRating</a:t>
            </a:r>
            <a:endParaRPr lang="es-ES" sz="1800" dirty="0"/>
          </a:p>
          <a:p>
            <a:pPr algn="ctr"/>
            <a:endParaRPr lang="es-ES" sz="1400" dirty="0"/>
          </a:p>
          <a:p>
            <a:pPr algn="ctr"/>
            <a:endParaRPr lang="es-ES" sz="1400" dirty="0"/>
          </a:p>
          <a:p>
            <a:pPr algn="ctr"/>
            <a:r>
              <a:rPr lang="es-ES" sz="1400" dirty="0" err="1"/>
              <a:t>Vote_average</a:t>
            </a:r>
            <a:r>
              <a:rPr lang="es-ES" sz="1400" dirty="0"/>
              <a:t>/10</a:t>
            </a:r>
          </a:p>
          <a:p>
            <a:pPr algn="ctr"/>
            <a:r>
              <a:rPr lang="es-ES" sz="1400" dirty="0"/>
              <a:t>Premia calidad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E7876575-D865-9FBE-71E6-F72EFCF332E6}"/>
              </a:ext>
            </a:extLst>
          </p:cNvPr>
          <p:cNvSpPr/>
          <p:nvPr/>
        </p:nvSpPr>
        <p:spPr>
          <a:xfrm>
            <a:off x="4752854" y="2852936"/>
            <a:ext cx="2698634" cy="20162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sz="1800" dirty="0" err="1"/>
              <a:t>CriticPopularity</a:t>
            </a:r>
            <a:endParaRPr lang="es-ES" sz="1800" dirty="0"/>
          </a:p>
          <a:p>
            <a:pPr algn="ctr"/>
            <a:endParaRPr lang="es-ES" sz="1400" dirty="0"/>
          </a:p>
          <a:p>
            <a:pPr algn="ctr"/>
            <a:endParaRPr lang="es-ES" sz="1400" dirty="0"/>
          </a:p>
          <a:p>
            <a:pPr algn="ctr"/>
            <a:r>
              <a:rPr lang="es-ES" sz="1400" dirty="0"/>
              <a:t>Popularidad/máximo</a:t>
            </a:r>
          </a:p>
          <a:p>
            <a:pPr algn="ctr"/>
            <a:r>
              <a:rPr lang="es-ES" sz="1400" dirty="0"/>
              <a:t>Premia tendencia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5B3CA9DD-CA0D-A21B-28F8-DA10ACB8CDB2}"/>
              </a:ext>
            </a:extLst>
          </p:cNvPr>
          <p:cNvSpPr/>
          <p:nvPr/>
        </p:nvSpPr>
        <p:spPr>
          <a:xfrm>
            <a:off x="8056624" y="2852936"/>
            <a:ext cx="2698634" cy="20162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sz="1800" dirty="0" err="1"/>
              <a:t>CriticGenre</a:t>
            </a:r>
            <a:endParaRPr lang="es-ES" sz="1800" dirty="0"/>
          </a:p>
          <a:p>
            <a:pPr algn="ctr"/>
            <a:endParaRPr lang="es-ES" sz="1400" dirty="0"/>
          </a:p>
          <a:p>
            <a:pPr algn="ctr"/>
            <a:endParaRPr lang="es-ES" sz="1400" dirty="0"/>
          </a:p>
          <a:p>
            <a:pPr algn="ctr"/>
            <a:r>
              <a:rPr lang="es-ES" sz="1400" dirty="0"/>
              <a:t>Géneros coincidentes/pedidos</a:t>
            </a:r>
          </a:p>
          <a:p>
            <a:pPr algn="ctr"/>
            <a:r>
              <a:rPr lang="es-ES" sz="1400" dirty="0"/>
              <a:t>Premia relevancia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6B7BFEC-E51D-5E4D-0F1C-E3FFF73FE7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2523" y="5687208"/>
            <a:ext cx="953721" cy="95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369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E7355A-160D-3278-3EC9-C4E9AE834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JuryAgent</a:t>
            </a:r>
            <a:endParaRPr lang="es-ES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7B0299A4-3C81-2790-4D14-132C9C1B0875}"/>
              </a:ext>
            </a:extLst>
          </p:cNvPr>
          <p:cNvSpPr/>
          <p:nvPr/>
        </p:nvSpPr>
        <p:spPr>
          <a:xfrm>
            <a:off x="1644218" y="2492896"/>
            <a:ext cx="3154050" cy="30243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sz="1800" dirty="0"/>
              <a:t>Algoritmo de Borda</a:t>
            </a:r>
          </a:p>
          <a:p>
            <a:pPr algn="ctr"/>
            <a:endParaRPr lang="es-ES" sz="1400" dirty="0"/>
          </a:p>
          <a:p>
            <a:pPr algn="ctr"/>
            <a:endParaRPr lang="es-ES" sz="1400" dirty="0"/>
          </a:p>
          <a:p>
            <a:pPr algn="ctr"/>
            <a:r>
              <a:rPr lang="es-ES" sz="1400" dirty="0"/>
              <a:t>N puntos al 1º</a:t>
            </a:r>
          </a:p>
          <a:p>
            <a:pPr algn="ctr"/>
            <a:r>
              <a:rPr lang="es-ES" sz="1400" dirty="0"/>
              <a:t>N-1 al 2º</a:t>
            </a:r>
          </a:p>
          <a:p>
            <a:pPr algn="ctr"/>
            <a:r>
              <a:rPr lang="es-ES" sz="1400" dirty="0"/>
              <a:t>…</a:t>
            </a:r>
          </a:p>
          <a:p>
            <a:pPr algn="ctr"/>
            <a:r>
              <a:rPr lang="es-ES" sz="1400" dirty="0"/>
              <a:t>1 punto al último</a:t>
            </a:r>
          </a:p>
          <a:p>
            <a:pPr algn="ctr"/>
            <a:endParaRPr lang="es-ES" sz="1400" dirty="0"/>
          </a:p>
          <a:p>
            <a:pPr algn="ctr"/>
            <a:r>
              <a:rPr lang="es-ES" sz="1400" dirty="0"/>
              <a:t>Suma de los 3 críticos -&gt; ranking final</a:t>
            </a:r>
          </a:p>
        </p:txBody>
      </p:sp>
      <p:sp>
        <p:nvSpPr>
          <p:cNvPr id="4" name="Marcador de posición de texto 7">
            <a:extLst>
              <a:ext uri="{FF2B5EF4-FFF2-40B4-BE49-F238E27FC236}">
                <a16:creationId xmlns:a16="http://schemas.microsoft.com/office/drawing/2014/main" id="{2AB9D86B-4E89-3FCD-8906-DCCCC080E257}"/>
              </a:ext>
            </a:extLst>
          </p:cNvPr>
          <p:cNvSpPr txBox="1">
            <a:spLocks/>
          </p:cNvSpPr>
          <p:nvPr/>
        </p:nvSpPr>
        <p:spPr>
          <a:xfrm>
            <a:off x="6124940" y="2708920"/>
            <a:ext cx="5082740" cy="914400"/>
          </a:xfrm>
          <a:prstGeom prst="rect">
            <a:avLst/>
          </a:prstGeom>
        </p:spPr>
        <p:txBody>
          <a:bodyPr rtlCol="0"/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cap="all" spc="200" dirty="0">
                <a:solidFill>
                  <a:schemeClr val="accent1"/>
                </a:solidFill>
              </a:rPr>
              <a:t>Ejemplo</a:t>
            </a:r>
            <a:endParaRPr lang="es-ES" dirty="0"/>
          </a:p>
        </p:txBody>
      </p:sp>
      <p:sp>
        <p:nvSpPr>
          <p:cNvPr id="5" name="Marcador de posición de contenido 9">
            <a:extLst>
              <a:ext uri="{FF2B5EF4-FFF2-40B4-BE49-F238E27FC236}">
                <a16:creationId xmlns:a16="http://schemas.microsoft.com/office/drawing/2014/main" id="{0EE7EEAE-4610-7564-BC8D-6B7466236B28}"/>
              </a:ext>
            </a:extLst>
          </p:cNvPr>
          <p:cNvSpPr txBox="1">
            <a:spLocks/>
          </p:cNvSpPr>
          <p:nvPr/>
        </p:nvSpPr>
        <p:spPr>
          <a:xfrm>
            <a:off x="6124941" y="3403600"/>
            <a:ext cx="4866016" cy="2113632"/>
          </a:xfrm>
          <a:prstGeom prst="rect">
            <a:avLst/>
          </a:prstGeom>
        </p:spPr>
        <p:txBody>
          <a:bodyPr rtlCol="0"/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600" dirty="0"/>
              <a:t>Rating + Popularidad + Género = Total</a:t>
            </a:r>
          </a:p>
          <a:p>
            <a:r>
              <a:rPr lang="es-ES" sz="1600" dirty="0"/>
              <a:t>Película A: 3 + 3 + 2 = 8</a:t>
            </a:r>
          </a:p>
          <a:p>
            <a:r>
              <a:rPr lang="es-ES" sz="1600" dirty="0"/>
              <a:t>Película B: 2 + 1 + 3 = 6 </a:t>
            </a:r>
          </a:p>
          <a:p>
            <a:r>
              <a:rPr lang="es-ES" sz="1600" dirty="0"/>
              <a:t>Película C: 1 + 2 + 1 = 4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B7CBA3E-BF9D-94EF-25F3-D23049A8B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2523" y="5687208"/>
            <a:ext cx="953721" cy="95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502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787A0-0477-71EE-C8AA-CFE74FC70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Visualización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88C9881D-A823-6D6A-9F10-A50CF273EB06}"/>
              </a:ext>
            </a:extLst>
          </p:cNvPr>
          <p:cNvSpPr/>
          <p:nvPr/>
        </p:nvSpPr>
        <p:spPr>
          <a:xfrm>
            <a:off x="1644218" y="2492896"/>
            <a:ext cx="2866018" cy="2520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sz="1800" dirty="0" err="1"/>
              <a:t>DisplayAgent</a:t>
            </a:r>
            <a:endParaRPr lang="es-ES" sz="1800" dirty="0"/>
          </a:p>
          <a:p>
            <a:pPr algn="ctr"/>
            <a:endParaRPr lang="es-ES" sz="1400" dirty="0"/>
          </a:p>
          <a:p>
            <a:pPr algn="ctr"/>
            <a:endParaRPr lang="es-ES" sz="1400" dirty="0"/>
          </a:p>
          <a:p>
            <a:pPr algn="ctr"/>
            <a:r>
              <a:rPr lang="es-ES" sz="1400" dirty="0"/>
              <a:t>Recibe top 10</a:t>
            </a:r>
          </a:p>
          <a:p>
            <a:pPr algn="ctr"/>
            <a:r>
              <a:rPr lang="es-ES" sz="1400" dirty="0"/>
              <a:t>Actualiza el poster</a:t>
            </a:r>
          </a:p>
          <a:p>
            <a:pPr algn="ctr"/>
            <a:r>
              <a:rPr lang="es-ES" sz="1400" dirty="0"/>
              <a:t>Envía confirmación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28E4855-D2FD-CB71-88B9-C6E57042F3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2523" y="5687208"/>
            <a:ext cx="953721" cy="95372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24E1CAB-CBE9-8692-1060-CED770FCD5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9"/>
          <a:stretch>
            <a:fillRect/>
          </a:stretch>
        </p:blipFill>
        <p:spPr>
          <a:xfrm>
            <a:off x="6454452" y="1650016"/>
            <a:ext cx="3841667" cy="4293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209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6F9218-8EF6-281C-B6F1-B6D548826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Demo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C8C1561-8BDF-9493-F8DE-F8362C2A9B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2523" y="5687208"/>
            <a:ext cx="953721" cy="95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770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nología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260_TF02787990_TF02787990.potx" id="{711CCDD4-BD90-4388-A31E-EA977055FCFF}" vid="{C5F9FE6A-8390-4E5A-B0DB-91EA047CC61C}"/>
    </a:ext>
  </a:extLst>
</a:theme>
</file>

<file path=ppt/theme/theme2.xml><?xml version="1.0" encoding="utf-8"?>
<a:theme xmlns:a="http://schemas.openxmlformats.org/drawingml/2006/main" name="Tema d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5b66edf-0b02-4201-a74d-2e156b2be6c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808AE1E3F3B804C80FEF9876EECB01F" ma:contentTypeVersion="10" ma:contentTypeDescription="Crear nuevo documento." ma:contentTypeScope="" ma:versionID="74d6b0e91b19aa93148e1d9bb67be3f7">
  <xsd:schema xmlns:xsd="http://www.w3.org/2001/XMLSchema" xmlns:xs="http://www.w3.org/2001/XMLSchema" xmlns:p="http://schemas.microsoft.com/office/2006/metadata/properties" xmlns:ns3="f5b66edf-0b02-4201-a74d-2e156b2be6c2" targetNamespace="http://schemas.microsoft.com/office/2006/metadata/properties" ma:root="true" ma:fieldsID="d33b1c7870bab2e88b5ff354fcbb99c4" ns3:_="">
    <xsd:import namespace="f5b66edf-0b02-4201-a74d-2e156b2be6c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ObjectDetectorVersions" minOccurs="0"/>
                <xsd:element ref="ns3:MediaServiceDateTaken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b66edf-0b02-4201-a74d-2e156b2be6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f5b66edf-0b02-4201-a74d-2e156b2be6c2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BEFF4C7-47D6-4343-8CA0-9940BF5B9B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b66edf-0b02-4201-a74d-2e156b2be6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0A3189C-5CD8-4EB4-B07B-47ED7250CFA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líneas de triple circuito (panorámica)</Template>
  <TotalTime>1697</TotalTime>
  <Words>190</Words>
  <Application>Microsoft Office PowerPoint</Application>
  <PresentationFormat>Personalizado</PresentationFormat>
  <Paragraphs>87</Paragraphs>
  <Slides>10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Tecnología 16x9</vt:lpstr>
      <vt:lpstr>CineAgent</vt:lpstr>
      <vt:lpstr>Índice</vt:lpstr>
      <vt:lpstr>Problema</vt:lpstr>
      <vt:lpstr>Solución CineAgent</vt:lpstr>
      <vt:lpstr>Arquitectura</vt:lpstr>
      <vt:lpstr>Entrada de datos</vt:lpstr>
      <vt:lpstr>Críticos</vt:lpstr>
      <vt:lpstr>JuryAgent</vt:lpstr>
      <vt:lpstr>Visualización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FERNANDEZ-PELLO SAN ROMAN</dc:creator>
  <cp:lastModifiedBy>SERGIO HERNANDEZ RODRIGUEZ</cp:lastModifiedBy>
  <cp:revision>3</cp:revision>
  <dcterms:created xsi:type="dcterms:W3CDTF">2026-05-23T08:45:30Z</dcterms:created>
  <dcterms:modified xsi:type="dcterms:W3CDTF">2026-05-24T14:57:58Z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0x010100E808AE1E3F3B804C80FEF9876EECB01F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